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5C90D1-BE08-4424-973D-15264B8CBDD9}">
  <a:tblStyle styleId="{465C90D1-BE08-4424-973D-15264B8CBD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6ee91286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16ee91286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6ee91286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6ee91286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6ee91286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16ee91286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6ee91286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6ee91286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16ee91286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16ee91286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6ee91286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6ee91286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6ee9128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6ee9128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6ee9128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6ee9128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6ee91286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6ee91286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12125" y="132025"/>
            <a:ext cx="8520600" cy="173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4680">
                <a:solidFill>
                  <a:schemeClr val="lt1"/>
                </a:solidFill>
              </a:rPr>
              <a:t>Predicting Throughput with Recurrent Neural Networks</a:t>
            </a:r>
            <a:endParaRPr sz="4680">
              <a:solidFill>
                <a:schemeClr val="lt1"/>
              </a:solidFill>
            </a:endParaRPr>
          </a:p>
        </p:txBody>
      </p:sp>
      <p:sp>
        <p:nvSpPr>
          <p:cNvPr id="55" name="Google Shape;55;p13"/>
          <p:cNvSpPr txBox="1"/>
          <p:nvPr>
            <p:ph idx="1" type="subTitle"/>
          </p:nvPr>
        </p:nvSpPr>
        <p:spPr>
          <a:xfrm>
            <a:off x="212125" y="3858725"/>
            <a:ext cx="8520600" cy="11091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2000">
                <a:solidFill>
                  <a:schemeClr val="lt1"/>
                </a:solidFill>
              </a:rPr>
              <a:t>Everett Tucker</a:t>
            </a:r>
            <a:endParaRPr sz="2000">
              <a:solidFill>
                <a:schemeClr val="lt1"/>
              </a:solidFill>
            </a:endParaRPr>
          </a:p>
          <a:p>
            <a:pPr indent="0" lvl="0" marL="0" rtl="0" algn="l">
              <a:lnSpc>
                <a:spcPct val="150000"/>
              </a:lnSpc>
              <a:spcBef>
                <a:spcPts val="0"/>
              </a:spcBef>
              <a:spcAft>
                <a:spcPts val="0"/>
              </a:spcAft>
              <a:buNone/>
            </a:pPr>
            <a:r>
              <a:rPr lang="en" sz="2000">
                <a:solidFill>
                  <a:schemeClr val="lt1"/>
                </a:solidFill>
              </a:rPr>
              <a:t>First-Year Computer Science Major, Statistics Minor</a:t>
            </a:r>
            <a:endParaRPr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129150" y="146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61" name="Google Shape;61;p14"/>
          <p:cNvSpPr/>
          <p:nvPr/>
        </p:nvSpPr>
        <p:spPr>
          <a:xfrm>
            <a:off x="5599725" y="2248200"/>
            <a:ext cx="2638500" cy="26373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t>UAV Reinforcement Learning for Urban Communication Maximization</a:t>
            </a:r>
            <a:endParaRPr sz="1700"/>
          </a:p>
        </p:txBody>
      </p:sp>
      <p:pic>
        <p:nvPicPr>
          <p:cNvPr id="62" name="Google Shape;62;p14"/>
          <p:cNvPicPr preferRelativeResize="0"/>
          <p:nvPr/>
        </p:nvPicPr>
        <p:blipFill rotWithShape="1">
          <a:blip r:embed="rId3">
            <a:alphaModFix/>
          </a:blip>
          <a:srcRect b="0" l="7114" r="8089" t="0"/>
          <a:stretch/>
        </p:blipFill>
        <p:spPr>
          <a:xfrm>
            <a:off x="4238925" y="328850"/>
            <a:ext cx="4796027" cy="1665301"/>
          </a:xfrm>
          <a:prstGeom prst="rect">
            <a:avLst/>
          </a:prstGeom>
          <a:noFill/>
          <a:ln>
            <a:noFill/>
          </a:ln>
        </p:spPr>
      </p:pic>
      <p:cxnSp>
        <p:nvCxnSpPr>
          <p:cNvPr id="63" name="Google Shape;63;p14"/>
          <p:cNvCxnSpPr/>
          <p:nvPr/>
        </p:nvCxnSpPr>
        <p:spPr>
          <a:xfrm>
            <a:off x="2993600" y="3484500"/>
            <a:ext cx="2306700" cy="0"/>
          </a:xfrm>
          <a:prstGeom prst="straightConnector1">
            <a:avLst/>
          </a:prstGeom>
          <a:noFill/>
          <a:ln cap="flat" cmpd="sng" w="38100">
            <a:solidFill>
              <a:schemeClr val="dk2"/>
            </a:solidFill>
            <a:prstDash val="solid"/>
            <a:round/>
            <a:headEnd len="med" w="med" type="none"/>
            <a:tailEnd len="med" w="med" type="triangle"/>
          </a:ln>
        </p:spPr>
      </p:cxnSp>
      <p:sp>
        <p:nvSpPr>
          <p:cNvPr id="64" name="Google Shape;64;p14"/>
          <p:cNvSpPr/>
          <p:nvPr/>
        </p:nvSpPr>
        <p:spPr>
          <a:xfrm>
            <a:off x="856475" y="2529150"/>
            <a:ext cx="1894200" cy="19107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t>Predicting Throughput with RNNs</a:t>
            </a:r>
            <a:endParaRPr sz="1700"/>
          </a:p>
        </p:txBody>
      </p:sp>
      <p:sp>
        <p:nvSpPr>
          <p:cNvPr id="65" name="Google Shape;65;p14"/>
          <p:cNvSpPr txBox="1"/>
          <p:nvPr/>
        </p:nvSpPr>
        <p:spPr>
          <a:xfrm>
            <a:off x="2950900" y="2780750"/>
            <a:ext cx="2448600" cy="44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Improves Value Function Realisticness</a:t>
            </a:r>
            <a:endParaRPr sz="1600">
              <a:solidFill>
                <a:schemeClr val="dk1"/>
              </a:solidFill>
            </a:endParaRPr>
          </a:p>
        </p:txBody>
      </p:sp>
      <p:sp>
        <p:nvSpPr>
          <p:cNvPr id="66" name="Google Shape;66;p14"/>
          <p:cNvSpPr txBox="1"/>
          <p:nvPr/>
        </p:nvSpPr>
        <p:spPr>
          <a:xfrm>
            <a:off x="363725" y="987625"/>
            <a:ext cx="3090300" cy="12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This predictive model is part of a larger research project into communications optimization.</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167975" y="188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Importing and Visualizing Data</a:t>
            </a:r>
            <a:endParaRPr/>
          </a:p>
        </p:txBody>
      </p:sp>
      <p:sp>
        <p:nvSpPr>
          <p:cNvPr id="72" name="Google Shape;72;p15"/>
          <p:cNvSpPr txBox="1"/>
          <p:nvPr>
            <p:ph idx="1" type="body"/>
          </p:nvPr>
        </p:nvSpPr>
        <p:spPr>
          <a:xfrm>
            <a:off x="260350" y="988225"/>
            <a:ext cx="8520600" cy="415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Used the “Network Anomaly Dataset” from Kaggle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Dataset contains multiple timestamped communication metrics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Visualized data </a:t>
            </a:r>
            <a:r>
              <a:rPr lang="en">
                <a:solidFill>
                  <a:schemeClr val="dk1"/>
                </a:solidFill>
              </a:rPr>
              <a:t>using lag plots and graphs over time</a:t>
            </a:r>
            <a:endParaRPr>
              <a:solidFill>
                <a:schemeClr val="dk1"/>
              </a:solidFill>
            </a:endParaRPr>
          </a:p>
        </p:txBody>
      </p:sp>
      <p:pic>
        <p:nvPicPr>
          <p:cNvPr id="73" name="Google Shape;73;p15"/>
          <p:cNvPicPr preferRelativeResize="0"/>
          <p:nvPr/>
        </p:nvPicPr>
        <p:blipFill>
          <a:blip r:embed="rId3">
            <a:alphaModFix/>
          </a:blip>
          <a:stretch>
            <a:fillRect/>
          </a:stretch>
        </p:blipFill>
        <p:spPr>
          <a:xfrm>
            <a:off x="4733300" y="2103175"/>
            <a:ext cx="3719150" cy="2988474"/>
          </a:xfrm>
          <a:prstGeom prst="rect">
            <a:avLst/>
          </a:prstGeom>
          <a:noFill/>
          <a:ln>
            <a:noFill/>
          </a:ln>
        </p:spPr>
      </p:pic>
      <p:pic>
        <p:nvPicPr>
          <p:cNvPr id="74" name="Google Shape;74;p15"/>
          <p:cNvPicPr preferRelativeResize="0"/>
          <p:nvPr/>
        </p:nvPicPr>
        <p:blipFill>
          <a:blip r:embed="rId4">
            <a:alphaModFix/>
          </a:blip>
          <a:stretch>
            <a:fillRect/>
          </a:stretch>
        </p:blipFill>
        <p:spPr>
          <a:xfrm>
            <a:off x="678702" y="2103175"/>
            <a:ext cx="3636649" cy="2874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228725" y="295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Preprocessing</a:t>
            </a:r>
            <a:endParaRPr/>
          </a:p>
        </p:txBody>
      </p:sp>
      <p:sp>
        <p:nvSpPr>
          <p:cNvPr id="80" name="Google Shape;80;p16"/>
          <p:cNvSpPr/>
          <p:nvPr/>
        </p:nvSpPr>
        <p:spPr>
          <a:xfrm>
            <a:off x="3738000" y="3290175"/>
            <a:ext cx="1668000" cy="16560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Principal Component Analysis</a:t>
            </a:r>
            <a:endParaRPr/>
          </a:p>
        </p:txBody>
      </p:sp>
      <p:sp>
        <p:nvSpPr>
          <p:cNvPr id="81" name="Google Shape;81;p16"/>
          <p:cNvSpPr/>
          <p:nvPr/>
        </p:nvSpPr>
        <p:spPr>
          <a:xfrm>
            <a:off x="3738000" y="1031538"/>
            <a:ext cx="1668000" cy="1656000"/>
          </a:xfrm>
          <a:prstGeom prst="ellipse">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Normalize</a:t>
            </a:r>
            <a:endParaRPr/>
          </a:p>
        </p:txBody>
      </p:sp>
      <p:sp>
        <p:nvSpPr>
          <p:cNvPr id="82" name="Google Shape;82;p16"/>
          <p:cNvSpPr/>
          <p:nvPr/>
        </p:nvSpPr>
        <p:spPr>
          <a:xfrm>
            <a:off x="554138" y="3208025"/>
            <a:ext cx="1668000" cy="1656000"/>
          </a:xfrm>
          <a:prstGeom prst="ellipse">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Extract Desired Features</a:t>
            </a:r>
            <a:endParaRPr/>
          </a:p>
        </p:txBody>
      </p:sp>
      <p:sp>
        <p:nvSpPr>
          <p:cNvPr id="83" name="Google Shape;83;p16"/>
          <p:cNvSpPr/>
          <p:nvPr/>
        </p:nvSpPr>
        <p:spPr>
          <a:xfrm>
            <a:off x="6921863" y="1031550"/>
            <a:ext cx="1668000" cy="16560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Split into Buffer Chunks</a:t>
            </a:r>
            <a:endParaRPr/>
          </a:p>
        </p:txBody>
      </p:sp>
      <p:sp>
        <p:nvSpPr>
          <p:cNvPr id="84" name="Google Shape;84;p16"/>
          <p:cNvSpPr/>
          <p:nvPr/>
        </p:nvSpPr>
        <p:spPr>
          <a:xfrm>
            <a:off x="554138" y="1031550"/>
            <a:ext cx="1668000" cy="16560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Prune Anomaly Points</a:t>
            </a:r>
            <a:endParaRPr/>
          </a:p>
        </p:txBody>
      </p:sp>
      <p:sp>
        <p:nvSpPr>
          <p:cNvPr id="85" name="Google Shape;85;p16"/>
          <p:cNvSpPr/>
          <p:nvPr/>
        </p:nvSpPr>
        <p:spPr>
          <a:xfrm>
            <a:off x="6921863" y="3290163"/>
            <a:ext cx="1668000" cy="16560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Divide into Training, Validation, and Test Sets</a:t>
            </a:r>
            <a:endParaRPr/>
          </a:p>
        </p:txBody>
      </p:sp>
      <p:cxnSp>
        <p:nvCxnSpPr>
          <p:cNvPr id="86" name="Google Shape;86;p16"/>
          <p:cNvCxnSpPr>
            <a:stCxn id="84" idx="4"/>
            <a:endCxn id="82" idx="0"/>
          </p:cNvCxnSpPr>
          <p:nvPr/>
        </p:nvCxnSpPr>
        <p:spPr>
          <a:xfrm>
            <a:off x="1388138" y="2687550"/>
            <a:ext cx="0" cy="520500"/>
          </a:xfrm>
          <a:prstGeom prst="straightConnector1">
            <a:avLst/>
          </a:prstGeom>
          <a:noFill/>
          <a:ln cap="flat" cmpd="sng" w="28575">
            <a:solidFill>
              <a:schemeClr val="dk2"/>
            </a:solidFill>
            <a:prstDash val="solid"/>
            <a:round/>
            <a:headEnd len="med" w="med" type="none"/>
            <a:tailEnd len="med" w="med" type="triangle"/>
          </a:ln>
        </p:spPr>
      </p:cxnSp>
      <p:cxnSp>
        <p:nvCxnSpPr>
          <p:cNvPr id="87" name="Google Shape;87;p16"/>
          <p:cNvCxnSpPr>
            <a:stCxn id="82" idx="7"/>
            <a:endCxn id="81" idx="3"/>
          </p:cNvCxnSpPr>
          <p:nvPr/>
        </p:nvCxnSpPr>
        <p:spPr>
          <a:xfrm flipH="1" rot="10800000">
            <a:off x="1977865" y="2444941"/>
            <a:ext cx="2004300" cy="1005600"/>
          </a:xfrm>
          <a:prstGeom prst="straightConnector1">
            <a:avLst/>
          </a:prstGeom>
          <a:noFill/>
          <a:ln cap="flat" cmpd="sng" w="28575">
            <a:solidFill>
              <a:schemeClr val="dk2"/>
            </a:solidFill>
            <a:prstDash val="solid"/>
            <a:round/>
            <a:headEnd len="med" w="med" type="none"/>
            <a:tailEnd len="med" w="med" type="triangle"/>
          </a:ln>
        </p:spPr>
      </p:cxnSp>
      <p:cxnSp>
        <p:nvCxnSpPr>
          <p:cNvPr id="88" name="Google Shape;88;p16"/>
          <p:cNvCxnSpPr>
            <a:stCxn id="81" idx="4"/>
            <a:endCxn id="80" idx="0"/>
          </p:cNvCxnSpPr>
          <p:nvPr/>
        </p:nvCxnSpPr>
        <p:spPr>
          <a:xfrm>
            <a:off x="4572000" y="2687538"/>
            <a:ext cx="0" cy="602700"/>
          </a:xfrm>
          <a:prstGeom prst="straightConnector1">
            <a:avLst/>
          </a:prstGeom>
          <a:noFill/>
          <a:ln cap="flat" cmpd="sng" w="28575">
            <a:solidFill>
              <a:schemeClr val="dk2"/>
            </a:solidFill>
            <a:prstDash val="solid"/>
            <a:round/>
            <a:headEnd len="med" w="med" type="none"/>
            <a:tailEnd len="med" w="med" type="triangle"/>
          </a:ln>
        </p:spPr>
      </p:cxnSp>
      <p:cxnSp>
        <p:nvCxnSpPr>
          <p:cNvPr id="89" name="Google Shape;89;p16"/>
          <p:cNvCxnSpPr>
            <a:stCxn id="80" idx="7"/>
            <a:endCxn id="83" idx="3"/>
          </p:cNvCxnSpPr>
          <p:nvPr/>
        </p:nvCxnSpPr>
        <p:spPr>
          <a:xfrm flipH="1" rot="10800000">
            <a:off x="5161727" y="2444891"/>
            <a:ext cx="2004300" cy="1087800"/>
          </a:xfrm>
          <a:prstGeom prst="straightConnector1">
            <a:avLst/>
          </a:prstGeom>
          <a:noFill/>
          <a:ln cap="flat" cmpd="sng" w="28575">
            <a:solidFill>
              <a:schemeClr val="dk2"/>
            </a:solidFill>
            <a:prstDash val="solid"/>
            <a:round/>
            <a:headEnd len="med" w="med" type="none"/>
            <a:tailEnd len="med" w="med" type="triangle"/>
          </a:ln>
        </p:spPr>
      </p:cxnSp>
      <p:cxnSp>
        <p:nvCxnSpPr>
          <p:cNvPr id="90" name="Google Shape;90;p16"/>
          <p:cNvCxnSpPr>
            <a:stCxn id="83" idx="4"/>
            <a:endCxn id="85" idx="0"/>
          </p:cNvCxnSpPr>
          <p:nvPr/>
        </p:nvCxnSpPr>
        <p:spPr>
          <a:xfrm>
            <a:off x="7755863" y="2687550"/>
            <a:ext cx="0" cy="6027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167975" y="17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Constructing the Model</a:t>
            </a:r>
            <a:endParaRPr/>
          </a:p>
        </p:txBody>
      </p:sp>
      <p:graphicFrame>
        <p:nvGraphicFramePr>
          <p:cNvPr id="96" name="Google Shape;96;p17"/>
          <p:cNvGraphicFramePr/>
          <p:nvPr/>
        </p:nvGraphicFramePr>
        <p:xfrm>
          <a:off x="1339625" y="4212025"/>
          <a:ext cx="3000000" cy="3000000"/>
        </p:xfrm>
        <a:graphic>
          <a:graphicData uri="http://schemas.openxmlformats.org/drawingml/2006/table">
            <a:tbl>
              <a:tblPr>
                <a:noFill/>
                <a:tableStyleId>{465C90D1-BE08-4424-973D-15264B8CBDD9}</a:tableStyleId>
              </a:tblPr>
              <a:tblGrid>
                <a:gridCol w="1809750"/>
                <a:gridCol w="1809750"/>
                <a:gridCol w="1809750"/>
                <a:gridCol w="1809750"/>
              </a:tblGrid>
              <a:tr h="365400">
                <a:tc>
                  <a:txBody>
                    <a:bodyPr/>
                    <a:lstStyle/>
                    <a:p>
                      <a:pPr indent="0" lvl="0" marL="0" rtl="0" algn="l">
                        <a:spcBef>
                          <a:spcPts val="0"/>
                        </a:spcBef>
                        <a:spcAft>
                          <a:spcPts val="0"/>
                        </a:spcAft>
                        <a:buNone/>
                      </a:pPr>
                      <a:r>
                        <a:rPr b="1" lang="en" sz="1900"/>
                        <a:t>0</a:t>
                      </a:r>
                      <a:endParaRPr b="1" sz="1900"/>
                    </a:p>
                  </a:txBody>
                  <a:tcPr marT="91425" marB="91425" marR="91425" marL="91425"/>
                </a:tc>
                <a:tc>
                  <a:txBody>
                    <a:bodyPr/>
                    <a:lstStyle/>
                    <a:p>
                      <a:pPr indent="0" lvl="0" marL="0" rtl="0" algn="l">
                        <a:spcBef>
                          <a:spcPts val="0"/>
                        </a:spcBef>
                        <a:spcAft>
                          <a:spcPts val="0"/>
                        </a:spcAft>
                        <a:buNone/>
                      </a:pPr>
                      <a:r>
                        <a:rPr b="1" lang="en" sz="1900"/>
                        <a:t>1</a:t>
                      </a:r>
                      <a:endParaRPr b="1" sz="1900"/>
                    </a:p>
                  </a:txBody>
                  <a:tcPr marT="91425" marB="91425" marR="91425" marL="91425"/>
                </a:tc>
                <a:tc>
                  <a:txBody>
                    <a:bodyPr/>
                    <a:lstStyle/>
                    <a:p>
                      <a:pPr indent="0" lvl="0" marL="0" rtl="0" algn="l">
                        <a:spcBef>
                          <a:spcPts val="0"/>
                        </a:spcBef>
                        <a:spcAft>
                          <a:spcPts val="0"/>
                        </a:spcAft>
                        <a:buNone/>
                      </a:pPr>
                      <a:r>
                        <a:rPr b="1" lang="en" sz="1900"/>
                        <a:t>…</a:t>
                      </a:r>
                      <a:endParaRPr b="1" sz="1900"/>
                    </a:p>
                  </a:txBody>
                  <a:tcPr marT="91425" marB="91425" marR="91425" marL="91425"/>
                </a:tc>
                <a:tc>
                  <a:txBody>
                    <a:bodyPr/>
                    <a:lstStyle/>
                    <a:p>
                      <a:pPr indent="0" lvl="0" marL="0" rtl="0" algn="l">
                        <a:spcBef>
                          <a:spcPts val="0"/>
                        </a:spcBef>
                        <a:spcAft>
                          <a:spcPts val="0"/>
                        </a:spcAft>
                        <a:buNone/>
                      </a:pPr>
                      <a:r>
                        <a:rPr b="1" lang="en" sz="1900"/>
                        <a:t>k</a:t>
                      </a:r>
                      <a:r>
                        <a:rPr b="1" lang="en" sz="1900"/>
                        <a:t> - 1</a:t>
                      </a:r>
                      <a:endParaRPr b="1" sz="1900"/>
                    </a:p>
                  </a:txBody>
                  <a:tcPr marT="91425" marB="91425" marR="91425" marL="91425"/>
                </a:tc>
              </a:tr>
            </a:tbl>
          </a:graphicData>
        </a:graphic>
      </p:graphicFrame>
      <p:sp>
        <p:nvSpPr>
          <p:cNvPr id="97" name="Google Shape;97;p17"/>
          <p:cNvSpPr txBox="1"/>
          <p:nvPr/>
        </p:nvSpPr>
        <p:spPr>
          <a:xfrm>
            <a:off x="277925" y="4019975"/>
            <a:ext cx="893100" cy="78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Data Chunk</a:t>
            </a:r>
            <a:endParaRPr sz="1800">
              <a:solidFill>
                <a:schemeClr val="dk1"/>
              </a:solidFill>
            </a:endParaRPr>
          </a:p>
        </p:txBody>
      </p:sp>
      <p:sp>
        <p:nvSpPr>
          <p:cNvPr id="98" name="Google Shape;98;p17"/>
          <p:cNvSpPr/>
          <p:nvPr/>
        </p:nvSpPr>
        <p:spPr>
          <a:xfrm>
            <a:off x="1736450" y="2647300"/>
            <a:ext cx="985500" cy="9855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Linear Node +</a:t>
            </a:r>
            <a:endParaRPr/>
          </a:p>
          <a:p>
            <a:pPr indent="0" lvl="0" marL="0" rtl="0" algn="ctr">
              <a:spcBef>
                <a:spcPts val="0"/>
              </a:spcBef>
              <a:spcAft>
                <a:spcPts val="0"/>
              </a:spcAft>
              <a:buNone/>
            </a:pPr>
            <a:r>
              <a:rPr lang="en"/>
              <a:t>ReLu</a:t>
            </a:r>
            <a:endParaRPr/>
          </a:p>
        </p:txBody>
      </p:sp>
      <p:sp>
        <p:nvSpPr>
          <p:cNvPr id="99" name="Google Shape;99;p17"/>
          <p:cNvSpPr/>
          <p:nvPr/>
        </p:nvSpPr>
        <p:spPr>
          <a:xfrm>
            <a:off x="3562275" y="2647288"/>
            <a:ext cx="985500" cy="985500"/>
          </a:xfrm>
          <a:prstGeom prst="roundRect">
            <a:avLst>
              <a:gd fmla="val 16667" name="adj"/>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Linear Node +</a:t>
            </a:r>
            <a:endParaRPr/>
          </a:p>
          <a:p>
            <a:pPr indent="0" lvl="0" marL="0" rtl="0" algn="ctr">
              <a:spcBef>
                <a:spcPts val="0"/>
              </a:spcBef>
              <a:spcAft>
                <a:spcPts val="0"/>
              </a:spcAft>
              <a:buNone/>
            </a:pPr>
            <a:r>
              <a:rPr lang="en"/>
              <a:t>ReLu</a:t>
            </a:r>
            <a:endParaRPr/>
          </a:p>
        </p:txBody>
      </p:sp>
      <p:sp>
        <p:nvSpPr>
          <p:cNvPr id="100" name="Google Shape;100;p17"/>
          <p:cNvSpPr/>
          <p:nvPr/>
        </p:nvSpPr>
        <p:spPr>
          <a:xfrm>
            <a:off x="7172875" y="2647288"/>
            <a:ext cx="985500" cy="9855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Linear Node</a:t>
            </a:r>
            <a:endParaRPr/>
          </a:p>
        </p:txBody>
      </p:sp>
      <p:sp>
        <p:nvSpPr>
          <p:cNvPr id="101" name="Google Shape;101;p17"/>
          <p:cNvSpPr/>
          <p:nvPr/>
        </p:nvSpPr>
        <p:spPr>
          <a:xfrm>
            <a:off x="5381025" y="3001450"/>
            <a:ext cx="297600" cy="277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p:nvPr/>
        </p:nvSpPr>
        <p:spPr>
          <a:xfrm>
            <a:off x="5770750" y="3001450"/>
            <a:ext cx="297600" cy="277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p:nvPr/>
        </p:nvSpPr>
        <p:spPr>
          <a:xfrm>
            <a:off x="6160463" y="3001450"/>
            <a:ext cx="297600" cy="277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 name="Google Shape;104;p17"/>
          <p:cNvCxnSpPr>
            <a:stCxn id="98" idx="3"/>
            <a:endCxn id="99" idx="1"/>
          </p:cNvCxnSpPr>
          <p:nvPr/>
        </p:nvCxnSpPr>
        <p:spPr>
          <a:xfrm>
            <a:off x="2721950" y="3140050"/>
            <a:ext cx="840300" cy="0"/>
          </a:xfrm>
          <a:prstGeom prst="straightConnector1">
            <a:avLst/>
          </a:prstGeom>
          <a:noFill/>
          <a:ln cap="flat" cmpd="sng" w="28575">
            <a:solidFill>
              <a:schemeClr val="dk2"/>
            </a:solidFill>
            <a:prstDash val="solid"/>
            <a:round/>
            <a:headEnd len="med" w="med" type="none"/>
            <a:tailEnd len="med" w="med" type="triangle"/>
          </a:ln>
        </p:spPr>
      </p:cxnSp>
      <p:cxnSp>
        <p:nvCxnSpPr>
          <p:cNvPr id="105" name="Google Shape;105;p17"/>
          <p:cNvCxnSpPr>
            <a:stCxn id="99" idx="3"/>
          </p:cNvCxnSpPr>
          <p:nvPr/>
        </p:nvCxnSpPr>
        <p:spPr>
          <a:xfrm>
            <a:off x="4547775" y="3140038"/>
            <a:ext cx="679200" cy="0"/>
          </a:xfrm>
          <a:prstGeom prst="straightConnector1">
            <a:avLst/>
          </a:prstGeom>
          <a:noFill/>
          <a:ln cap="flat" cmpd="sng" w="28575">
            <a:solidFill>
              <a:schemeClr val="dk2"/>
            </a:solidFill>
            <a:prstDash val="solid"/>
            <a:round/>
            <a:headEnd len="med" w="med" type="none"/>
            <a:tailEnd len="med" w="med" type="triangle"/>
          </a:ln>
        </p:spPr>
      </p:cxnSp>
      <p:cxnSp>
        <p:nvCxnSpPr>
          <p:cNvPr id="106" name="Google Shape;106;p17"/>
          <p:cNvCxnSpPr>
            <a:endCxn id="100" idx="1"/>
          </p:cNvCxnSpPr>
          <p:nvPr/>
        </p:nvCxnSpPr>
        <p:spPr>
          <a:xfrm>
            <a:off x="6582175" y="3140038"/>
            <a:ext cx="590700" cy="0"/>
          </a:xfrm>
          <a:prstGeom prst="straightConnector1">
            <a:avLst/>
          </a:prstGeom>
          <a:noFill/>
          <a:ln cap="flat" cmpd="sng" w="28575">
            <a:solidFill>
              <a:schemeClr val="dk2"/>
            </a:solidFill>
            <a:prstDash val="solid"/>
            <a:round/>
            <a:headEnd len="med" w="med" type="none"/>
            <a:tailEnd len="med" w="med" type="triangle"/>
          </a:ln>
        </p:spPr>
      </p:cxnSp>
      <p:sp>
        <p:nvSpPr>
          <p:cNvPr id="107" name="Google Shape;107;p17"/>
          <p:cNvSpPr/>
          <p:nvPr/>
        </p:nvSpPr>
        <p:spPr>
          <a:xfrm>
            <a:off x="620375" y="1353725"/>
            <a:ext cx="893100" cy="780300"/>
          </a:xfrm>
          <a:prstGeom prst="rect">
            <a:avLst/>
          </a:prstGeom>
          <a:solidFill>
            <a:srgbClr val="3BCA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Initial Hidden Data</a:t>
            </a:r>
            <a:endParaRPr/>
          </a:p>
        </p:txBody>
      </p:sp>
      <p:cxnSp>
        <p:nvCxnSpPr>
          <p:cNvPr id="108" name="Google Shape;108;p17"/>
          <p:cNvCxnSpPr>
            <a:endCxn id="98" idx="2"/>
          </p:cNvCxnSpPr>
          <p:nvPr/>
        </p:nvCxnSpPr>
        <p:spPr>
          <a:xfrm rot="10800000">
            <a:off x="2229200" y="3632800"/>
            <a:ext cx="0" cy="575100"/>
          </a:xfrm>
          <a:prstGeom prst="straightConnector1">
            <a:avLst/>
          </a:prstGeom>
          <a:noFill/>
          <a:ln cap="flat" cmpd="sng" w="9525">
            <a:solidFill>
              <a:schemeClr val="dk2"/>
            </a:solidFill>
            <a:prstDash val="solid"/>
            <a:round/>
            <a:headEnd len="med" w="med" type="none"/>
            <a:tailEnd len="med" w="med" type="triangle"/>
          </a:ln>
        </p:spPr>
      </p:cxnSp>
      <p:cxnSp>
        <p:nvCxnSpPr>
          <p:cNvPr id="109" name="Google Shape;109;p17"/>
          <p:cNvCxnSpPr/>
          <p:nvPr/>
        </p:nvCxnSpPr>
        <p:spPr>
          <a:xfrm rot="10800000">
            <a:off x="4055025" y="3632800"/>
            <a:ext cx="0" cy="575100"/>
          </a:xfrm>
          <a:prstGeom prst="straightConnector1">
            <a:avLst/>
          </a:prstGeom>
          <a:noFill/>
          <a:ln cap="flat" cmpd="sng" w="9525">
            <a:solidFill>
              <a:schemeClr val="dk2"/>
            </a:solidFill>
            <a:prstDash val="solid"/>
            <a:round/>
            <a:headEnd len="med" w="med" type="none"/>
            <a:tailEnd len="med" w="med" type="triangle"/>
          </a:ln>
        </p:spPr>
      </p:cxnSp>
      <p:cxnSp>
        <p:nvCxnSpPr>
          <p:cNvPr id="110" name="Google Shape;110;p17"/>
          <p:cNvCxnSpPr/>
          <p:nvPr/>
        </p:nvCxnSpPr>
        <p:spPr>
          <a:xfrm rot="10800000">
            <a:off x="5919550" y="3632800"/>
            <a:ext cx="0" cy="5751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17"/>
          <p:cNvCxnSpPr/>
          <p:nvPr/>
        </p:nvCxnSpPr>
        <p:spPr>
          <a:xfrm rot="10800000">
            <a:off x="7665625" y="3632800"/>
            <a:ext cx="0" cy="575100"/>
          </a:xfrm>
          <a:prstGeom prst="straightConnector1">
            <a:avLst/>
          </a:prstGeom>
          <a:noFill/>
          <a:ln cap="flat" cmpd="sng" w="9525">
            <a:solidFill>
              <a:schemeClr val="dk2"/>
            </a:solidFill>
            <a:prstDash val="solid"/>
            <a:round/>
            <a:headEnd len="med" w="med" type="none"/>
            <a:tailEnd len="med" w="med" type="triangle"/>
          </a:ln>
        </p:spPr>
      </p:cxnSp>
      <p:cxnSp>
        <p:nvCxnSpPr>
          <p:cNvPr id="112" name="Google Shape;112;p17"/>
          <p:cNvCxnSpPr/>
          <p:nvPr/>
        </p:nvCxnSpPr>
        <p:spPr>
          <a:xfrm rot="10800000">
            <a:off x="5658250" y="3653500"/>
            <a:ext cx="255900" cy="5544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17"/>
          <p:cNvCxnSpPr/>
          <p:nvPr/>
        </p:nvCxnSpPr>
        <p:spPr>
          <a:xfrm flipH="1" rot="10800000">
            <a:off x="5924950" y="3643900"/>
            <a:ext cx="238500" cy="57360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17"/>
          <p:cNvSpPr/>
          <p:nvPr/>
        </p:nvSpPr>
        <p:spPr>
          <a:xfrm>
            <a:off x="8032675" y="1353725"/>
            <a:ext cx="893100" cy="780300"/>
          </a:xfrm>
          <a:prstGeom prst="rect">
            <a:avLst/>
          </a:prstGeom>
          <a:solidFill>
            <a:srgbClr val="3BCA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Data</a:t>
            </a:r>
            <a:endParaRPr/>
          </a:p>
        </p:txBody>
      </p:sp>
      <p:cxnSp>
        <p:nvCxnSpPr>
          <p:cNvPr id="115" name="Google Shape;115;p17"/>
          <p:cNvCxnSpPr>
            <a:stCxn id="107" idx="2"/>
            <a:endCxn id="98" idx="1"/>
          </p:cNvCxnSpPr>
          <p:nvPr/>
        </p:nvCxnSpPr>
        <p:spPr>
          <a:xfrm>
            <a:off x="1066925" y="2134025"/>
            <a:ext cx="669600" cy="1005900"/>
          </a:xfrm>
          <a:prstGeom prst="straightConnector1">
            <a:avLst/>
          </a:prstGeom>
          <a:noFill/>
          <a:ln cap="flat" cmpd="sng" w="28575">
            <a:solidFill>
              <a:schemeClr val="dk2"/>
            </a:solidFill>
            <a:prstDash val="solid"/>
            <a:round/>
            <a:headEnd len="med" w="med" type="none"/>
            <a:tailEnd len="med" w="med" type="triangle"/>
          </a:ln>
        </p:spPr>
      </p:cxnSp>
      <p:cxnSp>
        <p:nvCxnSpPr>
          <p:cNvPr id="116" name="Google Shape;116;p17"/>
          <p:cNvCxnSpPr>
            <a:stCxn id="100" idx="3"/>
            <a:endCxn id="114" idx="2"/>
          </p:cNvCxnSpPr>
          <p:nvPr/>
        </p:nvCxnSpPr>
        <p:spPr>
          <a:xfrm flipH="1" rot="10800000">
            <a:off x="8158375" y="2134138"/>
            <a:ext cx="321000" cy="1005900"/>
          </a:xfrm>
          <a:prstGeom prst="straightConnector1">
            <a:avLst/>
          </a:prstGeom>
          <a:noFill/>
          <a:ln cap="flat" cmpd="sng" w="28575">
            <a:solidFill>
              <a:schemeClr val="dk2"/>
            </a:solidFill>
            <a:prstDash val="solid"/>
            <a:round/>
            <a:headEnd len="med" w="med" type="none"/>
            <a:tailEnd len="med" w="med" type="triangle"/>
          </a:ln>
        </p:spPr>
      </p:cxnSp>
      <p:pic>
        <p:nvPicPr>
          <p:cNvPr id="117" name="Google Shape;117;p17"/>
          <p:cNvPicPr preferRelativeResize="0"/>
          <p:nvPr/>
        </p:nvPicPr>
        <p:blipFill>
          <a:blip r:embed="rId3">
            <a:alphaModFix/>
          </a:blip>
          <a:stretch>
            <a:fillRect/>
          </a:stretch>
        </p:blipFill>
        <p:spPr>
          <a:xfrm>
            <a:off x="2516475" y="1036025"/>
            <a:ext cx="2442650" cy="1221325"/>
          </a:xfrm>
          <a:prstGeom prst="rect">
            <a:avLst/>
          </a:prstGeom>
          <a:noFill/>
          <a:ln>
            <a:noFill/>
          </a:ln>
        </p:spPr>
      </p:pic>
      <p:sp>
        <p:nvSpPr>
          <p:cNvPr id="118" name="Google Shape;118;p17"/>
          <p:cNvSpPr/>
          <p:nvPr/>
        </p:nvSpPr>
        <p:spPr>
          <a:xfrm>
            <a:off x="5962125" y="592425"/>
            <a:ext cx="1311000" cy="11718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Constant Smoothing Convolution</a:t>
            </a:r>
            <a:endParaRPr/>
          </a:p>
        </p:txBody>
      </p:sp>
      <p:cxnSp>
        <p:nvCxnSpPr>
          <p:cNvPr id="119" name="Google Shape;119;p17"/>
          <p:cNvCxnSpPr>
            <a:stCxn id="114" idx="1"/>
            <a:endCxn id="118" idx="3"/>
          </p:cNvCxnSpPr>
          <p:nvPr/>
        </p:nvCxnSpPr>
        <p:spPr>
          <a:xfrm rot="10800000">
            <a:off x="7273075" y="1178375"/>
            <a:ext cx="759600" cy="5655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157725" y="17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Training</a:t>
            </a:r>
            <a:endParaRPr/>
          </a:p>
        </p:txBody>
      </p:sp>
      <p:sp>
        <p:nvSpPr>
          <p:cNvPr id="125" name="Google Shape;125;p18"/>
          <p:cNvSpPr txBox="1"/>
          <p:nvPr/>
        </p:nvSpPr>
        <p:spPr>
          <a:xfrm>
            <a:off x="5476400" y="116500"/>
            <a:ext cx="3100500" cy="18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highlight>
                  <a:schemeClr val="lt1"/>
                </a:highlight>
              </a:rPr>
              <a:t>Hyperparameter Tuning Results:</a:t>
            </a:r>
            <a:endParaRPr b="1">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k</a:t>
            </a:r>
            <a:r>
              <a:rPr lang="en">
                <a:solidFill>
                  <a:schemeClr val="dk1"/>
                </a:solidFill>
                <a:highlight>
                  <a:schemeClr val="lt1"/>
                </a:highlight>
              </a:rPr>
              <a:t> (buffer size): 3</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l</a:t>
            </a:r>
            <a:r>
              <a:rPr lang="en">
                <a:solidFill>
                  <a:schemeClr val="dk1"/>
                </a:solidFill>
                <a:highlight>
                  <a:schemeClr val="lt1"/>
                </a:highlight>
              </a:rPr>
              <a:t>earning rate: 0.0001</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Activation: ReLu</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Loss: Mean Squared Error</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Num components (PCA): 3</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l</a:t>
            </a:r>
            <a:r>
              <a:rPr lang="en">
                <a:solidFill>
                  <a:schemeClr val="dk1"/>
                </a:solidFill>
                <a:highlight>
                  <a:schemeClr val="lt1"/>
                </a:highlight>
              </a:rPr>
              <a:t> (convolution size): 6</a:t>
            </a:r>
            <a:endParaRPr>
              <a:solidFill>
                <a:schemeClr val="dk1"/>
              </a:solidFill>
              <a:highlight>
                <a:schemeClr val="lt1"/>
              </a:highlight>
            </a:endParaRPr>
          </a:p>
          <a:p>
            <a:pPr indent="0" lvl="0" marL="457200" rtl="0" algn="l">
              <a:spcBef>
                <a:spcPts val="0"/>
              </a:spcBef>
              <a:spcAft>
                <a:spcPts val="0"/>
              </a:spcAft>
              <a:buNone/>
            </a:pPr>
            <a:r>
              <a:rPr lang="en">
                <a:solidFill>
                  <a:schemeClr val="dk1"/>
                </a:solidFill>
                <a:highlight>
                  <a:schemeClr val="lt1"/>
                </a:highlight>
              </a:rPr>
              <a:t>i</a:t>
            </a:r>
            <a:r>
              <a:rPr lang="en">
                <a:solidFill>
                  <a:schemeClr val="dk1"/>
                </a:solidFill>
                <a:highlight>
                  <a:schemeClr val="lt1"/>
                </a:highlight>
              </a:rPr>
              <a:t>terations: 300,000</a:t>
            </a:r>
            <a:endParaRPr>
              <a:solidFill>
                <a:schemeClr val="dk1"/>
              </a:solidFill>
              <a:highlight>
                <a:schemeClr val="lt1"/>
              </a:highlight>
            </a:endParaRPr>
          </a:p>
        </p:txBody>
      </p:sp>
      <p:pic>
        <p:nvPicPr>
          <p:cNvPr id="126" name="Google Shape;126;p18"/>
          <p:cNvPicPr preferRelativeResize="0"/>
          <p:nvPr/>
        </p:nvPicPr>
        <p:blipFill>
          <a:blip r:embed="rId3">
            <a:alphaModFix/>
          </a:blip>
          <a:stretch>
            <a:fillRect/>
          </a:stretch>
        </p:blipFill>
        <p:spPr>
          <a:xfrm>
            <a:off x="5130300" y="2041699"/>
            <a:ext cx="3682850" cy="2958425"/>
          </a:xfrm>
          <a:prstGeom prst="rect">
            <a:avLst/>
          </a:prstGeom>
          <a:noFill/>
          <a:ln>
            <a:noFill/>
          </a:ln>
        </p:spPr>
      </p:pic>
      <p:pic>
        <p:nvPicPr>
          <p:cNvPr id="127" name="Google Shape;127;p18"/>
          <p:cNvPicPr preferRelativeResize="0"/>
          <p:nvPr/>
        </p:nvPicPr>
        <p:blipFill>
          <a:blip r:embed="rId4">
            <a:alphaModFix/>
          </a:blip>
          <a:stretch>
            <a:fillRect/>
          </a:stretch>
        </p:blipFill>
        <p:spPr>
          <a:xfrm>
            <a:off x="152400" y="903200"/>
            <a:ext cx="4825501" cy="38187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156750" y="154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Results!</a:t>
            </a:r>
            <a:endParaRPr/>
          </a:p>
        </p:txBody>
      </p:sp>
      <p:sp>
        <p:nvSpPr>
          <p:cNvPr id="133" name="Google Shape;133;p19"/>
          <p:cNvSpPr txBox="1"/>
          <p:nvPr/>
        </p:nvSpPr>
        <p:spPr>
          <a:xfrm>
            <a:off x="156750" y="4505525"/>
            <a:ext cx="54111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Final MAPE Improvement over Baseline: 202.95%</a:t>
            </a:r>
            <a:endParaRPr sz="1800">
              <a:solidFill>
                <a:schemeClr val="dk1"/>
              </a:solidFill>
            </a:endParaRPr>
          </a:p>
        </p:txBody>
      </p:sp>
      <p:sp>
        <p:nvSpPr>
          <p:cNvPr id="134" name="Google Shape;134;p19"/>
          <p:cNvSpPr txBox="1"/>
          <p:nvPr/>
        </p:nvSpPr>
        <p:spPr>
          <a:xfrm>
            <a:off x="5034950" y="925300"/>
            <a:ext cx="3932100" cy="39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Future Plans: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Extend the output of the prediction to infer multiple prediction points simultaneously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Refine the final convolution to smooth the predicted time series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Train on a larger data set with more dynamic and unusual changes in network traffic</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Fix overfitting issues while predicting on the test data</a:t>
            </a:r>
            <a:endParaRPr sz="1800">
              <a:solidFill>
                <a:schemeClr val="dk2"/>
              </a:solidFill>
            </a:endParaRPr>
          </a:p>
        </p:txBody>
      </p:sp>
      <p:pic>
        <p:nvPicPr>
          <p:cNvPr id="135" name="Google Shape;135;p19"/>
          <p:cNvPicPr preferRelativeResize="0"/>
          <p:nvPr/>
        </p:nvPicPr>
        <p:blipFill>
          <a:blip r:embed="rId3">
            <a:alphaModFix/>
          </a:blip>
          <a:stretch>
            <a:fillRect/>
          </a:stretch>
        </p:blipFill>
        <p:spPr>
          <a:xfrm>
            <a:off x="152400" y="879275"/>
            <a:ext cx="4331262" cy="3473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 Outline</a:t>
            </a:r>
            <a:endParaRPr/>
          </a:p>
          <a:p>
            <a:pPr indent="0" lvl="0" marL="0" rtl="0" algn="l">
              <a:spcBef>
                <a:spcPts val="0"/>
              </a:spcBef>
              <a:spcAft>
                <a:spcPts val="0"/>
              </a:spcAft>
              <a:buNone/>
            </a:pPr>
            <a:r>
              <a:t/>
            </a:r>
            <a:endParaRPr/>
          </a:p>
        </p:txBody>
      </p:sp>
      <p:sp>
        <p:nvSpPr>
          <p:cNvPr id="141" name="Google Shape;14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Everett Tucker, First-year student, Computer Science Major</a:t>
            </a:r>
            <a:endParaRPr/>
          </a:p>
          <a:p>
            <a:pPr indent="0" lvl="0" marL="0" rtl="0" algn="l">
              <a:spcBef>
                <a:spcPts val="1200"/>
              </a:spcBef>
              <a:spcAft>
                <a:spcPts val="0"/>
              </a:spcAft>
              <a:buNone/>
            </a:pPr>
            <a:r>
              <a:rPr lang="en"/>
              <a:t>Problem Statement: This is part of a larger research project into designing a reinforcement learning agent to optimize communications between UAVs and </a:t>
            </a:r>
            <a:r>
              <a:rPr lang="en"/>
              <a:t>ground</a:t>
            </a:r>
            <a:r>
              <a:rPr lang="en"/>
              <a:t> users, such as pedestrians in an urban setting. In this scenario, the throughput of the user is hugely important, and predicting it more accurately in the future would improve our value function, and thus our model.</a:t>
            </a:r>
            <a:endParaRPr/>
          </a:p>
          <a:p>
            <a:pPr indent="0" lvl="0" marL="0" rtl="0" algn="l">
              <a:spcBef>
                <a:spcPts val="1200"/>
              </a:spcBef>
              <a:spcAft>
                <a:spcPts val="1200"/>
              </a:spcAft>
              <a:buNone/>
            </a:pPr>
            <a:r>
              <a:rPr lang="en"/>
              <a:t>The data: I got the data from a Kaggle dataset that was originally designed for network anomaly detection, but it contains a lot of interesting communication metrics that I wanted to use for my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7" name="Google Shape;14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Preprocessing: This mostly involved scanning the data columns for useful features to use in my </a:t>
            </a:r>
            <a:r>
              <a:rPr lang="en"/>
              <a:t>model, of which I found 5 good ones. I also looked over some of the non-numeric columns to determine if they had a significant impact on the general trends of the data. (I found that they didn’t really)</a:t>
            </a:r>
            <a:endParaRPr/>
          </a:p>
          <a:p>
            <a:pPr indent="0" lvl="0" marL="0" rtl="0" algn="l">
              <a:spcBef>
                <a:spcPts val="1200"/>
              </a:spcBef>
              <a:spcAft>
                <a:spcPts val="0"/>
              </a:spcAft>
              <a:buNone/>
            </a:pPr>
            <a:r>
              <a:rPr lang="en"/>
              <a:t>Inspection: I then plotted some lag plots of different features of the data to find out if there were any features that had really clear trends over time. I also used a linear regression model to check the independence of each of the features. </a:t>
            </a:r>
            <a:endParaRPr/>
          </a:p>
          <a:p>
            <a:pPr indent="0" lvl="0" marL="0" rtl="0" algn="l">
              <a:spcBef>
                <a:spcPts val="1200"/>
              </a:spcBef>
              <a:spcAft>
                <a:spcPts val="1200"/>
              </a:spcAft>
              <a:buNone/>
            </a:pPr>
            <a:r>
              <a:rPr lang="en"/>
              <a:t>Data Transformations: I used principal component analysis to reduce the number of features from 5 to 2. This isn’t a huge benefit to the model training time, but it also helped to normalize the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3" name="Google Shape;15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Model Training: To predict this data, I wanted to use a Recurrent Neural Network where previous data points were fed into a buffer of size k. I wrote the class and the feed forward method from PyTorch, and then optimized the model with the hyperparameters of k, learning_rate, activation function, loss function, and iterations. I used a validation set to test for overfitting of the model after training, and a final test to </a:t>
            </a:r>
            <a:r>
              <a:rPr lang="en"/>
              <a:t>evaluate</a:t>
            </a:r>
            <a:r>
              <a:rPr lang="en"/>
              <a:t> the final performance of the model.</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Maybe use a moving average buffer at the end to improve the results a </a:t>
            </a:r>
            <a:r>
              <a:rPr lang="en"/>
              <a:t>little</a:t>
            </a:r>
            <a:r>
              <a:rPr lang="en"/>
              <a:t> more. This is a good idea and also makes the results a little more uniform. This is good for the final prediction where I want it to be nice and stable, </a:t>
            </a:r>
            <a:r>
              <a:rPr lang="en"/>
              <a:t>because</a:t>
            </a:r>
            <a:r>
              <a:rPr lang="en"/>
              <a:t> the RL model relies on it.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